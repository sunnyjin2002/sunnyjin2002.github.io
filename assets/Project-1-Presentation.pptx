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Nuni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Nunito-bold.fntdata"/><Relationship Id="rId27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a12b79aaa7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a12b79aaa7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a12b79aaa7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a12b79aaa7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a12b79aaa7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a12b79aaa7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a12b79af04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a12b79af04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a12b79af04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a12b79af04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a12b79aaa7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a12b79aaa7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a12b79aaa7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a12b79aaa7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a12b79aaa7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a12b79aaa7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a12b79af04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a12b79af04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a12b79af04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a12b79af04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a12b79aaa7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a12b79aaa7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a12b79aaa7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a12b79aaa7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a12b79aaa7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a12b79aaa7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a12b79aaa7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a12b79aaa7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a12b79aaa7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a12b79aaa7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a12b79aaa7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a12b79aaa7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a12b79aaa7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a12b79aaa7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a12b79aaa7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a12b79aaa7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a12b79aaa7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a12b79aaa7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a12b79aaa7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a12b79aaa7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Video Games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Bryce Du, Bryce Kratzer, Sunny Jin</a:t>
            </a:r>
            <a:endParaRPr/>
          </a:p>
        </p:txBody>
      </p:sp>
      <p:pic>
        <p:nvPicPr>
          <p:cNvPr id="130" name="Google Shape;13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3103" y="2750450"/>
            <a:ext cx="1619196" cy="1619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3"/>
          <p:cNvPicPr preferRelativeResize="0"/>
          <p:nvPr/>
        </p:nvPicPr>
        <p:blipFill rotWithShape="1">
          <a:blip r:embed="rId4">
            <a:alphaModFix/>
          </a:blip>
          <a:srcRect b="0" l="238" r="228" t="0"/>
          <a:stretch/>
        </p:blipFill>
        <p:spPr>
          <a:xfrm rot="-1608240">
            <a:off x="986153" y="1159819"/>
            <a:ext cx="1764045" cy="937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431800" lvl="0" marL="457200" rtl="0" algn="ctr">
              <a:spcBef>
                <a:spcPts val="0"/>
              </a:spcBef>
              <a:spcAft>
                <a:spcPts val="0"/>
              </a:spcAft>
              <a:buSzPts val="3200"/>
              <a:buAutoNum type="arabicPeriod"/>
            </a:pPr>
            <a:r>
              <a:rPr lang="en-CA"/>
              <a:t>Intro</a:t>
            </a:r>
            <a:endParaRPr/>
          </a:p>
        </p:txBody>
      </p:sp>
      <p:pic>
        <p:nvPicPr>
          <p:cNvPr id="137" name="Google Shape;13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8425" y="0"/>
            <a:ext cx="2018000" cy="201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Research Rationale</a:t>
            </a:r>
            <a:endParaRPr/>
          </a:p>
        </p:txBody>
      </p:sp>
      <p:sp>
        <p:nvSpPr>
          <p:cNvPr id="143" name="Google Shape;143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Research question: What makes a blockbuster video game?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CA"/>
              <a:t>Maximize sales/profits</a:t>
            </a:r>
            <a:endParaRPr/>
          </a:p>
        </p:txBody>
      </p:sp>
      <p:pic>
        <p:nvPicPr>
          <p:cNvPr id="144" name="Google Shape;14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9225" y="2139075"/>
            <a:ext cx="2651350" cy="265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2. Data Set Description</a:t>
            </a:r>
            <a:endParaRPr/>
          </a:p>
        </p:txBody>
      </p:sp>
      <p:pic>
        <p:nvPicPr>
          <p:cNvPr id="150" name="Google Shape;15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8425" y="0"/>
            <a:ext cx="2018000" cy="201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075" y="450375"/>
            <a:ext cx="3371199" cy="3824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3073" y="450375"/>
            <a:ext cx="3371199" cy="382444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Numerical Variable Boxplots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Numerical Variable Boxplots</a:t>
            </a:r>
            <a:endParaRPr/>
          </a:p>
        </p:txBody>
      </p:sp>
      <p:pic>
        <p:nvPicPr>
          <p:cNvPr id="163" name="Google Shape;16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675" y="427225"/>
            <a:ext cx="3401373" cy="385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0998" y="427225"/>
            <a:ext cx="3401373" cy="385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Full Model</a:t>
            </a:r>
            <a:endParaRPr/>
          </a:p>
        </p:txBody>
      </p:sp>
      <p:pic>
        <p:nvPicPr>
          <p:cNvPr id="170" name="Google Shape;17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9687" y="1422587"/>
            <a:ext cx="2904625" cy="329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3. Building Model and Model Validation</a:t>
            </a:r>
            <a:endParaRPr/>
          </a:p>
        </p:txBody>
      </p:sp>
      <p:pic>
        <p:nvPicPr>
          <p:cNvPr id="176" name="Google Shape;17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8425" y="0"/>
            <a:ext cx="2018000" cy="201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type="title"/>
          </p:nvPr>
        </p:nvSpPr>
        <p:spPr>
          <a:xfrm>
            <a:off x="819150" y="845600"/>
            <a:ext cx="75057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Cleaning the data</a:t>
            </a:r>
            <a:endParaRPr/>
          </a:p>
        </p:txBody>
      </p:sp>
      <p:sp>
        <p:nvSpPr>
          <p:cNvPr id="182" name="Google Shape;182;p21"/>
          <p:cNvSpPr txBox="1"/>
          <p:nvPr>
            <p:ph idx="1" type="body"/>
          </p:nvPr>
        </p:nvSpPr>
        <p:spPr>
          <a:xfrm>
            <a:off x="5486400" y="1439550"/>
            <a:ext cx="2838600" cy="29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CA"/>
              <a:t>Filled Empty Cells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CA"/>
              <a:t>Removed </a:t>
            </a:r>
            <a:r>
              <a:rPr lang="en-CA"/>
              <a:t>Erroneous</a:t>
            </a:r>
            <a:r>
              <a:rPr lang="en-CA"/>
              <a:t> Publishers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CA"/>
              <a:t>Corrected boolean Statements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CA"/>
              <a:t>Corrected game ratings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CA"/>
              <a:t>Checked for multicollinearity</a:t>
            </a:r>
            <a:endParaRPr/>
          </a:p>
        </p:txBody>
      </p:sp>
      <p:pic>
        <p:nvPicPr>
          <p:cNvPr id="183" name="Google Shape;18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650" y="1474575"/>
            <a:ext cx="4297475" cy="483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/>
          <p:cNvSpPr/>
          <p:nvPr/>
        </p:nvSpPr>
        <p:spPr>
          <a:xfrm>
            <a:off x="2205675" y="2094475"/>
            <a:ext cx="321300" cy="216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250" y="2446700"/>
            <a:ext cx="4326265" cy="48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3150" y="3027450"/>
            <a:ext cx="3052838" cy="1908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/>
          <p:nvPr>
            <p:ph type="title"/>
          </p:nvPr>
        </p:nvSpPr>
        <p:spPr>
          <a:xfrm>
            <a:off x="819150" y="845600"/>
            <a:ext cx="7505700" cy="5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Feature Selection</a:t>
            </a:r>
            <a:endParaRPr/>
          </a:p>
        </p:txBody>
      </p:sp>
      <p:sp>
        <p:nvSpPr>
          <p:cNvPr id="192" name="Google Shape;192;p22"/>
          <p:cNvSpPr txBox="1"/>
          <p:nvPr>
            <p:ph idx="1" type="body"/>
          </p:nvPr>
        </p:nvSpPr>
        <p:spPr>
          <a:xfrm>
            <a:off x="4794425" y="1384100"/>
            <a:ext cx="3530400" cy="30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-Created dummy variables for categorical variables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CA"/>
              <a:t>- Utilizing LASSO for feature selection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CA"/>
              <a:t>- Iteratively adding interactions between variables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/>
          <p:nvPr>
            <p:ph type="title"/>
          </p:nvPr>
        </p:nvSpPr>
        <p:spPr>
          <a:xfrm>
            <a:off x="819150" y="368900"/>
            <a:ext cx="7505700" cy="47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Final Model</a:t>
            </a:r>
            <a:endParaRPr/>
          </a:p>
        </p:txBody>
      </p:sp>
      <p:sp>
        <p:nvSpPr>
          <p:cNvPr id="198" name="Google Shape;198;p23"/>
          <p:cNvSpPr txBox="1"/>
          <p:nvPr>
            <p:ph idx="1" type="body"/>
          </p:nvPr>
        </p:nvSpPr>
        <p:spPr>
          <a:xfrm>
            <a:off x="819150" y="1383950"/>
            <a:ext cx="4809300" cy="30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- 57 variables down from 65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CA"/>
              <a:t>-Out of the different Genres, Action games are most likely to sell better, and Strategy games are most likely to sell worse.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CA"/>
              <a:t>-Nintendo is the most influential publisher (the only publisher with absolute coefficients value &gt; 0.1)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CA"/>
              <a:t>-Interaction terms: Used.Price:Review.Score has a significant impact; so do Used.Price:Review.Score:PlayStyles.Leisure (largest coefficient)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CA"/>
              <a:t>	- Price &amp; Review Score has a very high impact to the game price, and even higher when the game has a Leisure </a:t>
            </a:r>
            <a:r>
              <a:rPr lang="en-CA"/>
              <a:t>PlayStyle.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9" name="Google Shape;19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6236" y="450613"/>
            <a:ext cx="2054289" cy="4242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4. Model Diagonostics</a:t>
            </a:r>
            <a:endParaRPr/>
          </a:p>
        </p:txBody>
      </p:sp>
      <p:pic>
        <p:nvPicPr>
          <p:cNvPr id="205" name="Google Shape;20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8425" y="0"/>
            <a:ext cx="2018000" cy="201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Check Linearity Assumption - Residual Plot</a:t>
            </a:r>
            <a:endParaRPr/>
          </a:p>
        </p:txBody>
      </p:sp>
      <p:sp>
        <p:nvSpPr>
          <p:cNvPr id="211" name="Google Shape;211;p25"/>
          <p:cNvSpPr txBox="1"/>
          <p:nvPr>
            <p:ph idx="1" type="body"/>
          </p:nvPr>
        </p:nvSpPr>
        <p:spPr>
          <a:xfrm>
            <a:off x="5123025" y="1990725"/>
            <a:ext cx="32019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CA"/>
              <a:t>No visible non-linear trend.</a:t>
            </a:r>
            <a:endParaRPr/>
          </a:p>
        </p:txBody>
      </p:sp>
      <p:pic>
        <p:nvPicPr>
          <p:cNvPr id="212" name="Google Shape;212;p25"/>
          <p:cNvPicPr preferRelativeResize="0"/>
          <p:nvPr/>
        </p:nvPicPr>
        <p:blipFill rotWithShape="1">
          <a:blip r:embed="rId3">
            <a:alphaModFix/>
          </a:blip>
          <a:srcRect b="0" l="0" r="0" t="17033"/>
          <a:stretch/>
        </p:blipFill>
        <p:spPr>
          <a:xfrm>
            <a:off x="559875" y="1602299"/>
            <a:ext cx="4278650" cy="283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Check Normality Assumption - Normal QQ Plot</a:t>
            </a:r>
            <a:endParaRPr/>
          </a:p>
        </p:txBody>
      </p:sp>
      <p:sp>
        <p:nvSpPr>
          <p:cNvPr id="218" name="Google Shape;218;p2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p26"/>
          <p:cNvPicPr preferRelativeResize="0"/>
          <p:nvPr/>
        </p:nvPicPr>
        <p:blipFill rotWithShape="1">
          <a:blip r:embed="rId3">
            <a:alphaModFix/>
          </a:blip>
          <a:srcRect b="2798" l="0" r="0" t="6035"/>
          <a:stretch/>
        </p:blipFill>
        <p:spPr>
          <a:xfrm>
            <a:off x="742025" y="1551926"/>
            <a:ext cx="3531673" cy="2572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5955" y="2094450"/>
            <a:ext cx="2273242" cy="95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"/>
          <p:cNvSpPr txBox="1"/>
          <p:nvPr>
            <p:ph type="title"/>
          </p:nvPr>
        </p:nvSpPr>
        <p:spPr>
          <a:xfrm>
            <a:off x="705375" y="503050"/>
            <a:ext cx="78315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Equal Variance of Errors Assumption - BF test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And Remedial Measure - Box Cox Transformation</a:t>
            </a:r>
            <a:endParaRPr/>
          </a:p>
        </p:txBody>
      </p:sp>
      <p:sp>
        <p:nvSpPr>
          <p:cNvPr id="226" name="Google Shape;226;p27"/>
          <p:cNvSpPr txBox="1"/>
          <p:nvPr>
            <p:ph idx="1" type="body"/>
          </p:nvPr>
        </p:nvSpPr>
        <p:spPr>
          <a:xfrm>
            <a:off x="6374750" y="1768375"/>
            <a:ext cx="1950000" cy="26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BF test result suggest that Equal Variance of Errors assumption is violated.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/>
              <a:t>Remedy: Box-Cox Transformatio</a:t>
            </a:r>
            <a:r>
              <a:rPr lang="en-CA"/>
              <a:t>n, λ = -0.2380335</a:t>
            </a:r>
            <a:endParaRPr/>
          </a:p>
        </p:txBody>
      </p:sp>
      <p:pic>
        <p:nvPicPr>
          <p:cNvPr id="227" name="Google Shape;22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9985" y="1681875"/>
            <a:ext cx="2476040" cy="85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9126" y="2759551"/>
            <a:ext cx="5419613" cy="167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Transformed Model, and Outliers</a:t>
            </a:r>
            <a:endParaRPr/>
          </a:p>
        </p:txBody>
      </p:sp>
      <p:sp>
        <p:nvSpPr>
          <p:cNvPr id="234" name="Google Shape;234;p28"/>
          <p:cNvSpPr txBox="1"/>
          <p:nvPr>
            <p:ph idx="1" type="body"/>
          </p:nvPr>
        </p:nvSpPr>
        <p:spPr>
          <a:xfrm>
            <a:off x="819150" y="2997325"/>
            <a:ext cx="3753000" cy="13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Ad</a:t>
            </a:r>
            <a:r>
              <a:rPr lang="en-CA">
                <a:solidFill>
                  <a:srgbClr val="000000"/>
                </a:solidFill>
              </a:rPr>
              <a:t>justed R</a:t>
            </a:r>
            <a:r>
              <a:rPr baseline="30000" lang="en-CA" sz="1250">
                <a:solidFill>
                  <a:srgbClr val="000000"/>
                </a:solidFill>
              </a:rPr>
              <a:t>2</a:t>
            </a:r>
            <a:r>
              <a:rPr lang="en-CA">
                <a:solidFill>
                  <a:srgbClr val="000000"/>
                </a:solidFill>
              </a:rPr>
              <a:t> = </a:t>
            </a:r>
            <a:r>
              <a:rPr lang="en-CA"/>
              <a:t>0.33 is still far from ideal.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/>
              <a:t>Outstanding outliers from Outlier &amp; Leverage Diagnostics graph: # 23, 24, 134, 157, 420, 421, 834 (More on them on the next pages…)</a:t>
            </a:r>
            <a:endParaRPr/>
          </a:p>
        </p:txBody>
      </p:sp>
      <p:pic>
        <p:nvPicPr>
          <p:cNvPr id="235" name="Google Shape;23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050" y="1800200"/>
            <a:ext cx="3420600" cy="6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6125" y="1450375"/>
            <a:ext cx="3834850" cy="306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/>
          <p:nvPr>
            <p:ph type="title"/>
          </p:nvPr>
        </p:nvSpPr>
        <p:spPr>
          <a:xfrm>
            <a:off x="819150" y="5507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Outliers - Studentized Residuals and Cook’s Distance</a:t>
            </a:r>
            <a:endParaRPr/>
          </a:p>
        </p:txBody>
      </p:sp>
      <p:sp>
        <p:nvSpPr>
          <p:cNvPr id="242" name="Google Shape;242;p29"/>
          <p:cNvSpPr txBox="1"/>
          <p:nvPr>
            <p:ph idx="1" type="body"/>
          </p:nvPr>
        </p:nvSpPr>
        <p:spPr>
          <a:xfrm>
            <a:off x="819150" y="1995950"/>
            <a:ext cx="7505700" cy="24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3" name="Google Shape;24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0175" y="1505300"/>
            <a:ext cx="3171174" cy="25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1950" y="1338550"/>
            <a:ext cx="3379850" cy="270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The 7 Most Influential Outliers</a:t>
            </a:r>
            <a:endParaRPr/>
          </a:p>
        </p:txBody>
      </p:sp>
      <p:sp>
        <p:nvSpPr>
          <p:cNvPr id="250" name="Google Shape;250;p30"/>
          <p:cNvSpPr txBox="1"/>
          <p:nvPr>
            <p:ph idx="1" type="body"/>
          </p:nvPr>
        </p:nvSpPr>
        <p:spPr>
          <a:xfrm>
            <a:off x="819150" y="1654575"/>
            <a:ext cx="7505700" cy="31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## [1] "Game Name"            		"Studentized Residual" 	"Cook's D</a:t>
            </a:r>
            <a:r>
              <a:rPr lang="en-CA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endParaRPr sz="1100">
              <a:solidFill>
                <a:srgbClr val="000000"/>
              </a:solidFill>
              <a:highlight>
                <a:srgbClr val="F8F8F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##     	[,1]                    			[,2]               			[,3]                </a:t>
            </a:r>
            <a:br>
              <a:rPr lang="en-CA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CA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## 23  "Mario Kart DS"         		"8.19888651544466" 		"0.0566198809176657"</a:t>
            </a:r>
            <a:br>
              <a:rPr lang="en-CA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CA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## 24  "Nintendogs"            		"8.76562044497503" 		"0.0496393598907225"</a:t>
            </a:r>
            <a:br>
              <a:rPr lang="en-CA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CA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## 157 "Wii Play"              		"17.049159381426"  		"0.244477081793348"</a:t>
            </a:r>
            <a:br>
              <a:rPr lang="en-CA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CA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## 158 "New Super Mario Bros." 	"8.78652529546772" 		"0.043839456389043"</a:t>
            </a:r>
            <a:br>
              <a:rPr lang="en-CA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CA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## 420 "Wii Fit"               		"8.19747354735298" 		"0.259131742623072"</a:t>
            </a:r>
            <a:br>
              <a:rPr lang="en-CA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CA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## 421 "Halo 3"                		"6.76469951294258" 		"0.079813494272085"</a:t>
            </a:r>
            <a:br>
              <a:rPr lang="en-CA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CA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## 834 "Mario Kart Wii"       		 "11.6607745146173" 		"0.0926492483962602"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CA"/>
              <a:t>Note that 6 of them are published by Nintendo, and 1 by Microsoft.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/>
              <a:t>These outliers would be excluded from the dataset to produce the final model.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R</a:t>
            </a:r>
            <a:r>
              <a:rPr baseline="30000" lang="en-CA"/>
              <a:t>2</a:t>
            </a:r>
            <a:r>
              <a:rPr lang="en-CA"/>
              <a:t> and R</a:t>
            </a:r>
            <a:r>
              <a:rPr baseline="-25000" lang="en-CA"/>
              <a:t>adj</a:t>
            </a:r>
            <a:r>
              <a:rPr baseline="30000" lang="en-CA"/>
              <a:t>2</a:t>
            </a:r>
            <a:endParaRPr/>
          </a:p>
        </p:txBody>
      </p:sp>
      <p:sp>
        <p:nvSpPr>
          <p:cNvPr id="256" name="Google Shape;256;p31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MSE,</a:t>
            </a:r>
            <a:r>
              <a:rPr lang="en-CA" sz="1200">
                <a:solidFill>
                  <a:srgbClr val="000000"/>
                </a:solidFill>
              </a:rPr>
              <a:t> </a:t>
            </a:r>
            <a:r>
              <a:rPr lang="en-CA" sz="1200">
                <a:solidFill>
                  <a:srgbClr val="000000"/>
                </a:solidFill>
              </a:rPr>
              <a:t>R</a:t>
            </a:r>
            <a:r>
              <a:rPr baseline="30000" lang="en-CA" sz="1200">
                <a:solidFill>
                  <a:srgbClr val="000000"/>
                </a:solidFill>
              </a:rPr>
              <a:t>2</a:t>
            </a:r>
            <a:r>
              <a:rPr lang="en-CA" sz="1200">
                <a:solidFill>
                  <a:srgbClr val="000000"/>
                </a:solidFill>
              </a:rPr>
              <a:t> and R</a:t>
            </a:r>
            <a:r>
              <a:rPr baseline="-25000" lang="en-CA" sz="1200">
                <a:solidFill>
                  <a:srgbClr val="000000"/>
                </a:solidFill>
              </a:rPr>
              <a:t>adj</a:t>
            </a:r>
            <a:r>
              <a:rPr baseline="30000" lang="en-CA" sz="1200">
                <a:solidFill>
                  <a:srgbClr val="000000"/>
                </a:solidFill>
              </a:rPr>
              <a:t>2</a:t>
            </a:r>
            <a:r>
              <a:rPr lang="en-CA"/>
              <a:t> of the model including outliers: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## [1] 0.7277747 0.3636303 0.3310384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CA"/>
              <a:t>MSE,</a:t>
            </a:r>
            <a:r>
              <a:rPr lang="en-CA" sz="1200">
                <a:solidFill>
                  <a:srgbClr val="000000"/>
                </a:solidFill>
              </a:rPr>
              <a:t> R</a:t>
            </a:r>
            <a:r>
              <a:rPr baseline="30000" lang="en-CA" sz="1200">
                <a:solidFill>
                  <a:srgbClr val="000000"/>
                </a:solidFill>
              </a:rPr>
              <a:t>2</a:t>
            </a:r>
            <a:r>
              <a:rPr lang="en-CA" sz="1200">
                <a:solidFill>
                  <a:srgbClr val="000000"/>
                </a:solidFill>
              </a:rPr>
              <a:t> and R</a:t>
            </a:r>
            <a:r>
              <a:rPr baseline="-25000" lang="en-CA" sz="1200">
                <a:solidFill>
                  <a:srgbClr val="000000"/>
                </a:solidFill>
              </a:rPr>
              <a:t>adj</a:t>
            </a:r>
            <a:r>
              <a:rPr baseline="30000" lang="en-CA" sz="1200">
                <a:solidFill>
                  <a:srgbClr val="000000"/>
                </a:solidFill>
              </a:rPr>
              <a:t>2</a:t>
            </a:r>
            <a:r>
              <a:rPr lang="en-CA"/>
              <a:t> of the model excluding outliers: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## [1] 0.2824093 0.4641607 0.4365498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Significant increase in </a:t>
            </a:r>
            <a:r>
              <a:rPr lang="en-CA" sz="1200">
                <a:solidFill>
                  <a:srgbClr val="000000"/>
                </a:solidFill>
              </a:rPr>
              <a:t>R</a:t>
            </a:r>
            <a:r>
              <a:rPr baseline="-25000" lang="en-CA" sz="1200">
                <a:solidFill>
                  <a:srgbClr val="000000"/>
                </a:solidFill>
              </a:rPr>
              <a:t>adj</a:t>
            </a:r>
            <a:r>
              <a:rPr baseline="30000" lang="en-CA" sz="1200">
                <a:solidFill>
                  <a:srgbClr val="000000"/>
                </a:solidFill>
              </a:rPr>
              <a:t>2</a:t>
            </a:r>
            <a:r>
              <a:rPr lang="en-CA"/>
              <a:t> ! (By 10%)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2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5. Conclusion</a:t>
            </a:r>
            <a:endParaRPr/>
          </a:p>
        </p:txBody>
      </p:sp>
      <p:pic>
        <p:nvPicPr>
          <p:cNvPr id="262" name="Google Shape;26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8425" y="0"/>
            <a:ext cx="2018000" cy="201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Concluding Remarks</a:t>
            </a:r>
            <a:endParaRPr/>
          </a:p>
        </p:txBody>
      </p:sp>
      <p:sp>
        <p:nvSpPr>
          <p:cNvPr id="268" name="Google Shape;268;p33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Action games are most likely to sell better, and Strategy games are most likely to sell worse.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Nintendo is the most influential publisher (supported by Nintendo being vast majority of outliers &amp; high coefficient for publish=Nintendo)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CA"/>
              <a:t>Price &amp; Review Score has a very high impact to the game price, and even higher when the game has a Leisure PlayStyle.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